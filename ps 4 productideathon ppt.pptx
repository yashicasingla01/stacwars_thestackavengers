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6" r:id="rId17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ASTRA | Mining Beyond Earth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A 3D concept model of asteroid-belt prospecting, autonomous mining, and resource use in space</a:t>
            </a:r>
          </a:p>
        </p:txBody>
      </p:sp>
      <p:pic>
        <p:nvPicPr>
          <p:cNvPr id="4" name="Picture 3" descr="ASTRA_3D_Scen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740664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82880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FF4FA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2000" b="1">
                <a:solidFill>
                  <a:srgbClr val="EFF4FA"/>
                </a:solidFill>
              </a:defRPr>
            </a:pPr>
            <a:r>
              <a:t>Earth-launched missions are expensive. How can we find useful asteroid resources and process them in space instead of hauling everything home?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920240" cy="347472"/>
          </a:xfrm>
          <a:prstGeom prst="roundRect">
            <a:avLst/>
          </a:prstGeom>
          <a:solidFill>
            <a:srgbClr val="142A3D"/>
          </a:solidFill>
          <a:ln>
            <a:solidFill>
              <a:srgbClr val="FFB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F4A"/>
                </a:solidFill>
              </a:defRPr>
            </a:pPr>
            <a:r>
              <a:t>3D CONCEPT SCENE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EBED2"/>
                </a:solidFill>
              </a:defRPr>
            </a:pPr>
            <a:r>
              <a:t>Scale and positions are illustrative, not navigation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01  |  The problem to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A credible concept must show where the belt is, what is mined, and how the material is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50876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FF4FA"/>
                </a:solidFill>
              </a:defRPr>
            </a:pPr>
            <a:r>
              <a:t>• Asteroids are far away; missions need careful navigation and communication.</a:t>
            </a:r>
          </a:p>
          <a:p>
            <a:pPr>
              <a:spcAft>
                <a:spcPts val="800"/>
              </a:spcAft>
              <a:defRPr sz="17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EFF4FA"/>
                </a:solidFill>
              </a:defRPr>
            </a:pPr>
            <a:r>
              <a:t>• Each target differs in shape, spin, surface strength, and composition.</a:t>
            </a:r>
          </a:p>
          <a:p>
            <a:pPr>
              <a:spcAft>
                <a:spcPts val="800"/>
              </a:spcAft>
              <a:defRPr sz="17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EFF4FA"/>
                </a:solidFill>
              </a:defRPr>
            </a:pPr>
            <a:r>
              <a:t>• Landing, anchoring, drilling, and collecting loose material are difficult in microgravity.</a:t>
            </a:r>
          </a:p>
          <a:p>
            <a:pPr>
              <a:spcAft>
                <a:spcPts val="800"/>
              </a:spcAft>
              <a:defRPr sz="17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EFF4FA"/>
                </a:solidFill>
              </a:defRPr>
            </a:pPr>
            <a:r>
              <a:t>• Launching all supplies from Earth is costly—so prioritize resources that can be used in space.</a:t>
            </a:r>
          </a:p>
        </p:txBody>
      </p:sp>
      <p:pic>
        <p:nvPicPr>
          <p:cNvPr id="6" name="Asteroid Field 3D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8569"/>
            <a:ext cx="6583680" cy="48409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02  |  Where is the asteroid belt?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The main belt lies mostly between Mars and Jupiter; this diagram is a simplified, not-to-scale layout.</a:t>
            </a:r>
          </a:p>
        </p:txBody>
      </p:sp>
      <p:pic>
        <p:nvPicPr>
          <p:cNvPr id="4" name="Picture 3" descr="ASTRA_3D_Scen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58952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5544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SUN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Energy source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EARTH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Mission assembly, control, and launch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ASTEROID BELT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Candidate targets are surveyed before selecting one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KEY IDEA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Do not treat the belt as a dense wall of rocks. Objects are separated by vast distances.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03  |  The mining spacecraft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Subsystems shown in the downloadable 3D model: power, sensing, robotics, and communications.</a:t>
            </a:r>
          </a:p>
        </p:txBody>
      </p:sp>
      <p:pic>
        <p:nvPicPr>
          <p:cNvPr id="4" name="Picture 3" descr="ASTRA_3D_Scen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7665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1732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1. Solar arrays — supply electrical power.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2. Sensor head — cameras, lidar, and spectrometers map the asteroid.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3. AI navigation — helps estimate pose, choose safe approach paths, and detect hazards.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4. Robotic arm + drill — anchor, sample, and excavate cautiously.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5. Antenna — links spacecraft with mission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04  |  What is being mined?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A rough asteroid with a highlighted illustrative resource zone; real composition must be measured.</a:t>
            </a:r>
          </a:p>
        </p:txBody>
      </p:sp>
      <p:pic>
        <p:nvPicPr>
          <p:cNvPr id="4" name="Picture 3" descr="ASTRA_Asteroid_Cutaway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040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55448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SURVEY FIRST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• Use spectra and thermal data to estimate composition.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SELECT TARGET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• Prefer a well-characterized, reachable object.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SAMPLE SAFELY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• Test small samples before scaling up.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POSSIBLE RESOURCES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• Water-bearing minerals / ice in some targets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• Metals and silicate materials</a:t>
            </a: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EFF4FA"/>
                </a:solidFill>
              </a:defRPr>
            </a:pPr>
            <a:r>
              <a:t>The turquoise core is conceptual—not a claim that every asteroid contains water.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06  |  How mining can happen outside Earth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A staged mission avoids assuming that mining is already routine.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03520" cy="1234440"/>
          </a:xfrm>
          <a:prstGeom prst="roundRect">
            <a:avLst/>
          </a:prstGeom>
          <a:solidFill>
            <a:srgbClr val="102235"/>
          </a:solidFill>
          <a:ln>
            <a:solidFill>
              <a:srgbClr val="45D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800" b="1">
                <a:solidFill>
                  <a:srgbClr val="45D4D3"/>
                </a:solidFill>
              </a:defRPr>
            </a:pPr>
            <a:r>
              <a:t>1  Detect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Telescope / survey spacecraft finds candidate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303520" cy="1234440"/>
          </a:xfrm>
          <a:prstGeom prst="roundRect">
            <a:avLst/>
          </a:prstGeom>
          <a:solidFill>
            <a:srgbClr val="102235"/>
          </a:solidFill>
          <a:ln>
            <a:solidFill>
              <a:srgbClr val="45D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800" b="1">
                <a:solidFill>
                  <a:srgbClr val="45D4D3"/>
                </a:solidFill>
              </a:defRPr>
            </a:pPr>
            <a:r>
              <a:t>2  Characterize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Measure orbit, shape, spin, and composition.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926080"/>
            <a:ext cx="5303520" cy="1234440"/>
          </a:xfrm>
          <a:prstGeom prst="roundRect">
            <a:avLst/>
          </a:prstGeom>
          <a:solidFill>
            <a:srgbClr val="102235"/>
          </a:solidFill>
          <a:ln>
            <a:solidFill>
              <a:srgbClr val="45D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800" b="1">
                <a:solidFill>
                  <a:srgbClr val="45D4D3"/>
                </a:solidFill>
              </a:defRPr>
            </a:pPr>
            <a:r>
              <a:t>3  Rendezvous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Match the target's motion; approach slowly.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5303520" cy="1234440"/>
          </a:xfrm>
          <a:prstGeom prst="roundRect">
            <a:avLst/>
          </a:prstGeom>
          <a:solidFill>
            <a:srgbClr val="102235"/>
          </a:solidFill>
          <a:ln>
            <a:solidFill>
              <a:srgbClr val="FFB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800" b="1">
                <a:solidFill>
                  <a:srgbClr val="FFBF4A"/>
                </a:solidFill>
              </a:defRPr>
            </a:pPr>
            <a:r>
              <a:t>4  Anchor &amp; sample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Secure the robot and collect a small test sample.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526280"/>
            <a:ext cx="5303520" cy="1234440"/>
          </a:xfrm>
          <a:prstGeom prst="roundRect">
            <a:avLst/>
          </a:prstGeom>
          <a:solidFill>
            <a:srgbClr val="102235"/>
          </a:solidFill>
          <a:ln>
            <a:solidFill>
              <a:srgbClr val="FFB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800" b="1">
                <a:solidFill>
                  <a:srgbClr val="FFBF4A"/>
                </a:solidFill>
              </a:defRPr>
            </a:pPr>
            <a:r>
              <a:t>5  Extract &amp; process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Separate useful material; capture dust and fragments.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526280"/>
            <a:ext cx="5303520" cy="1234440"/>
          </a:xfrm>
          <a:prstGeom prst="roundRect">
            <a:avLst/>
          </a:prstGeom>
          <a:solidFill>
            <a:srgbClr val="102235"/>
          </a:solidFill>
          <a:ln>
            <a:solidFill>
              <a:srgbClr val="FFB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800" b="1">
                <a:solidFill>
                  <a:srgbClr val="FFBF4A"/>
                </a:solidFill>
              </a:defRPr>
            </a:pPr>
            <a:r>
              <a:t>6  Use in space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Store water, make oxygen/propellant if feasible, or use material in construction.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07  |  AI model: perception → decision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Proposed onboard autonomy—not a trained or flight-certified AI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920240"/>
            <a:ext cx="2423160" cy="1920240"/>
          </a:xfrm>
          <a:prstGeom prst="roundRect">
            <a:avLst/>
          </a:prstGeom>
          <a:solidFill>
            <a:srgbClr val="112639"/>
          </a:solidFill>
          <a:ln>
            <a:solidFill>
              <a:srgbClr val="4A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AA5FF"/>
                </a:solidFill>
              </a:defRPr>
            </a:pPr>
            <a:r>
              <a:t>INPUTS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Camera • lidar</a:t>
            </a:r>
            <a:br/>
            <a:r>
              <a:t>Spectra • IMU</a:t>
            </a:r>
            <a:br/>
            <a:r>
              <a:t>Power / temperature</a:t>
            </a:r>
          </a:p>
        </p:txBody>
      </p:sp>
      <p:sp>
        <p:nvSpPr>
          <p:cNvPr id="5" name="Chevron 4"/>
          <p:cNvSpPr/>
          <p:nvPr/>
        </p:nvSpPr>
        <p:spPr>
          <a:xfrm>
            <a:off x="2898648" y="2560320"/>
            <a:ext cx="320040" cy="502920"/>
          </a:xfrm>
          <a:prstGeom prst="chevron">
            <a:avLst/>
          </a:prstGeom>
          <a:solidFill>
            <a:srgbClr val="FF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920240"/>
            <a:ext cx="2423160" cy="1920240"/>
          </a:xfrm>
          <a:prstGeom prst="roundRect">
            <a:avLst/>
          </a:prstGeom>
          <a:solidFill>
            <a:srgbClr val="112639"/>
          </a:solidFill>
          <a:ln>
            <a:solidFill>
              <a:srgbClr val="45D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5D4D3"/>
                </a:solidFill>
              </a:defRPr>
            </a:pPr>
            <a:r>
              <a:t>AI PERCEPTION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Detect asteroid edge</a:t>
            </a:r>
            <a:br/>
            <a:r>
              <a:t>Estimate pose &amp; spin</a:t>
            </a:r>
            <a:br/>
            <a:r>
              <a:t>Flag hazards</a:t>
            </a:r>
          </a:p>
        </p:txBody>
      </p:sp>
      <p:sp>
        <p:nvSpPr>
          <p:cNvPr id="7" name="Chevron 6"/>
          <p:cNvSpPr/>
          <p:nvPr/>
        </p:nvSpPr>
        <p:spPr>
          <a:xfrm>
            <a:off x="5824728" y="2560320"/>
            <a:ext cx="320040" cy="502920"/>
          </a:xfrm>
          <a:prstGeom prst="chevron">
            <a:avLst/>
          </a:prstGeom>
          <a:solidFill>
            <a:srgbClr val="FF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2423160" cy="1920240"/>
          </a:xfrm>
          <a:prstGeom prst="roundRect">
            <a:avLst/>
          </a:prstGeom>
          <a:solidFill>
            <a:srgbClr val="112639"/>
          </a:solidFill>
          <a:ln>
            <a:solidFill>
              <a:srgbClr val="FFB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BF4A"/>
                </a:solidFill>
              </a:defRPr>
            </a:pPr>
            <a:r>
              <a:t>PLANNER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Choose approach</a:t>
            </a:r>
            <a:br/>
            <a:r>
              <a:t>Select anchor point</a:t>
            </a:r>
            <a:br/>
            <a:r>
              <a:t>Limit drill force</a:t>
            </a:r>
          </a:p>
        </p:txBody>
      </p:sp>
      <p:sp>
        <p:nvSpPr>
          <p:cNvPr id="9" name="Chevron 8"/>
          <p:cNvSpPr/>
          <p:nvPr/>
        </p:nvSpPr>
        <p:spPr>
          <a:xfrm>
            <a:off x="8750808" y="2560320"/>
            <a:ext cx="320040" cy="502920"/>
          </a:xfrm>
          <a:prstGeom prst="chevron">
            <a:avLst/>
          </a:prstGeom>
          <a:solidFill>
            <a:srgbClr val="FF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1920240"/>
            <a:ext cx="2423160" cy="1920240"/>
          </a:xfrm>
          <a:prstGeom prst="roundRect">
            <a:avLst/>
          </a:prstGeom>
          <a:solidFill>
            <a:srgbClr val="112639"/>
          </a:solidFill>
          <a:ln>
            <a:solidFill>
              <a:srgbClr val="55D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D79A"/>
                </a:solidFill>
              </a:defRPr>
            </a:pPr>
            <a:r>
              <a:t>ACTIONS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Thrusters • arm</a:t>
            </a:r>
            <a:br/>
            <a:r>
              <a:t>Drill • sample bin</a:t>
            </a:r>
            <a:br/>
            <a:r>
              <a:t>Safe-stop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FF4FA"/>
                </a:solidFill>
              </a:defRPr>
            </a:pPr>
            <a:r>
              <a:t>Safety rule: AI recommends and monitors; hard limits and a safe-stop controller prevent unsafe drill force, collision risk, or uncontrolled release of material.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08  |  What happens to the mined material?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The strongest business case is often using resources in space—not returning raw ore to Earth.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514600" cy="2240280"/>
          </a:xfrm>
          <a:prstGeom prst="roundRect">
            <a:avLst/>
          </a:prstGeom>
          <a:solidFill>
            <a:srgbClr val="102235"/>
          </a:solidFill>
          <a:ln>
            <a:solidFill>
              <a:srgbClr val="45D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5D4D3"/>
                </a:solidFill>
              </a:defRPr>
            </a:pPr>
            <a:r>
              <a:t>WATER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Capture and purify if present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828800"/>
            <a:ext cx="2514600" cy="2240280"/>
          </a:xfrm>
          <a:prstGeom prst="roundRect">
            <a:avLst/>
          </a:prstGeom>
          <a:solidFill>
            <a:srgbClr val="102235"/>
          </a:solidFill>
          <a:ln>
            <a:solidFill>
              <a:srgbClr val="4A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AA5FF"/>
                </a:solidFill>
              </a:defRPr>
            </a:pPr>
            <a:r>
              <a:t>OXYGEN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Possible life-support feedstock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4" y="1828800"/>
            <a:ext cx="2514600" cy="2240280"/>
          </a:xfrm>
          <a:prstGeom prst="roundRect">
            <a:avLst/>
          </a:prstGeom>
          <a:solidFill>
            <a:srgbClr val="102235"/>
          </a:solidFill>
          <a:ln>
            <a:solidFill>
              <a:srgbClr val="FFB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BF4A"/>
                </a:solidFill>
              </a:defRPr>
            </a:pPr>
            <a:r>
              <a:t>PROPELLANT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Electrolysis / processing only if energy and infrastructure allow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26296" y="1828800"/>
            <a:ext cx="2514600" cy="2240280"/>
          </a:xfrm>
          <a:prstGeom prst="roundRect">
            <a:avLst/>
          </a:prstGeom>
          <a:solidFill>
            <a:srgbClr val="102235"/>
          </a:solidFill>
          <a:ln>
            <a:solidFill>
              <a:srgbClr val="55D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55D79A"/>
                </a:solidFill>
              </a:defRPr>
            </a:pPr>
            <a:r>
              <a:t>CONSTRUCTION</a:t>
            </a:r>
          </a:p>
          <a:p>
            <a:pPr>
              <a:defRPr sz="1300">
                <a:solidFill>
                  <a:srgbClr val="EFF4FA"/>
                </a:solidFill>
              </a:defRPr>
            </a:pPr>
            <a:r>
              <a:t>Regolith / metals may support shielding or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EBED2"/>
                </a:solidFill>
              </a:defRPr>
            </a:pPr>
            <a:r>
              <a:t>Important: resource extraction, purification, storage, and transfer are major engineering challenges. This deck presents a proposed pathway, not a proven commercial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09  |  Engineering risks and how to test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F4A"/>
                </a:solidFill>
              </a:defRPr>
            </a:pPr>
            <a:r>
              <a:t>Unknown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0" y="12344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FF4FA"/>
                </a:solidFill>
              </a:defRPr>
            </a:pPr>
            <a:r>
              <a:t>Map spectra; sample first; stop if target is unsuitable.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F4A"/>
                </a:solidFill>
              </a:defRPr>
            </a:pPr>
            <a:r>
              <a:t>Microgravity dust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9842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FF4FA"/>
                </a:solidFill>
              </a:defRPr>
            </a:pPr>
            <a:r>
              <a:t>Enclosed tools, capture skirts, slow drilling, contamination 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340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F4A"/>
                </a:solidFill>
              </a:defRPr>
            </a:pPr>
            <a:r>
              <a:t>Weak anchoring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7340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FF4FA"/>
                </a:solidFill>
              </a:defRPr>
            </a:pPr>
            <a:r>
              <a:t>Test harpoons / clamps on representative simulants; monitor 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38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F4A"/>
                </a:solidFill>
              </a:defRPr>
            </a:pPr>
            <a:r>
              <a:t>Power &amp; 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483864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FF4FA"/>
                </a:solidFill>
              </a:defRPr>
            </a:pPr>
            <a:r>
              <a:t>Duty-cycle tools, store energy, reject heat, survive eclipse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33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F4A"/>
                </a:solidFill>
              </a:defRPr>
            </a:pPr>
            <a:r>
              <a:t>Autonomy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23367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FF4FA"/>
                </a:solidFill>
              </a:defRPr>
            </a:pPr>
            <a:r>
              <a:t>Ground simulations, hardware-in-loop tests, redundant safe modes.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BF4A"/>
                </a:solidFill>
              </a:defRPr>
            </a:pPr>
            <a:r>
              <a:t>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98347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FF4FA"/>
                </a:solidFill>
              </a:defRPr>
            </a:pPr>
            <a:r>
              <a:t>Compare cost per kg delivered in space with launch-only alternatives.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F4FA"/>
                </a:solidFill>
                <a:latin typeface="Aptos Display"/>
              </a:defRPr>
            </a:pPr>
            <a:r>
              <a:t>10  |  The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2"/>
                </a:solidFill>
              </a:defRPr>
            </a:pPr>
            <a:r>
              <a:t>ASTRA: survey intelligently, mine cautiously, process locally, and use resources beyond Earth.</a:t>
            </a:r>
          </a:p>
        </p:txBody>
      </p:sp>
      <p:pic>
        <p:nvPicPr>
          <p:cNvPr id="4" name="Picture 3" descr="ASTRA_3D_Scen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2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5087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  <a:r>
              <a:t>WHY THIS APPROACH?</a:t>
            </a: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  <a:r>
              <a:t>• AI-assisted target selection and navigation</a:t>
            </a: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  <a:r>
              <a:t>• Modular robotic miner</a:t>
            </a: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  <a:r>
              <a:t>• Small sample before full extraction</a:t>
            </a: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  <a:r>
              <a:t>• In-space use can reduce the need to launch every kilogram from Earth</a:t>
            </a: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  <a:r>
              <a:t>NEXT STEP</a:t>
            </a:r>
          </a:p>
          <a:p>
            <a:pPr>
              <a:spcAft>
                <a:spcPts val="800"/>
              </a:spcAft>
              <a:defRPr sz="1600" b="1">
                <a:solidFill>
                  <a:srgbClr val="EFF4FA"/>
                </a:solidFill>
              </a:defRPr>
            </a:pPr>
            <a:r>
              <a:t>Test the robot and extraction process in a simulated microgravity / vacuum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BED2"/>
                </a:solidFill>
              </a:defRPr>
            </a:pPr>
            <a:r>
              <a:t>Concept model only • dimensions and orbit layout are illustrative • no flight-ready performance is claimed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FF4FA"/>
                </a:solidFill>
                <a:latin typeface="Aptos Display"/>
              </a:rPr>
              <a:t>05  |  Know your target: three asteroid types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EBED2"/>
                </a:solidFill>
              </a:rPr>
              <a:t>Different compositions mean different mining plans. Artistic 3D renders of the main classes.</a:t>
            </a:r>
          </a:p>
        </p:txBody>
      </p:sp>
      <p:sp>
        <p:nvSpPr>
          <p:cNvPr id="4" name="Card 1"/>
          <p:cNvSpPr/>
          <p:nvPr/>
        </p:nvSpPr>
        <p:spPr>
          <a:xfrm>
            <a:off x="502920" y="1371600"/>
            <a:ext cx="3611880" cy="4617720"/>
          </a:xfrm>
          <a:prstGeom prst="roundRect">
            <a:avLst>
              <a:gd name="adj" fmla="val 5000"/>
            </a:avLst>
          </a:prstGeom>
          <a:solidFill>
            <a:srgbClr val="102235"/>
          </a:solidFill>
          <a:ln w="12700">
            <a:solidFill>
              <a:srgbClr val="45D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-TYPE 3D render" descr="c_type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3063240" cy="3063240"/>
          </a:xfrm>
          <a:prstGeom prst="rect">
            <a:avLst/>
          </a:prstGeom>
        </p:spPr>
      </p:pic>
      <p:sp>
        <p:nvSpPr>
          <p:cNvPr id="6" name="Label 1"/>
          <p:cNvSpPr txBox="1"/>
          <p:nvPr/>
        </p:nvSpPr>
        <p:spPr>
          <a:xfrm>
            <a:off x="731520" y="4572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5D4D3"/>
                </a:solidFill>
              </a:rPr>
              <a:t>C-TYPE  |  CARBONACEOUS</a:t>
            </a:r>
          </a:p>
        </p:txBody>
      </p:sp>
      <p:sp>
        <p:nvSpPr>
          <p:cNvPr id="7" name="Description 1"/>
          <p:cNvSpPr txBox="1"/>
          <p:nvPr/>
        </p:nvSpPr>
        <p:spPr>
          <a:xfrm>
            <a:off x="731520" y="4937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F4FA"/>
                </a:solidFill>
              </a:rPr>
              <a:t>Dark and primitive. May hold carbon compounds and water-bearing minerals.</a:t>
            </a:r>
          </a:p>
        </p:txBody>
      </p:sp>
      <p:sp>
        <p:nvSpPr>
          <p:cNvPr id="8" name="Card 2"/>
          <p:cNvSpPr/>
          <p:nvPr/>
        </p:nvSpPr>
        <p:spPr>
          <a:xfrm>
            <a:off x="4334256" y="1371600"/>
            <a:ext cx="3611880" cy="4617720"/>
          </a:xfrm>
          <a:prstGeom prst="roundRect">
            <a:avLst>
              <a:gd name="adj" fmla="val 5000"/>
            </a:avLst>
          </a:prstGeom>
          <a:solidFill>
            <a:srgbClr val="102235"/>
          </a:solidFill>
          <a:ln w="12700">
            <a:solidFill>
              <a:srgbClr val="FFB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-TYPE 3D render" descr="s_type_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463040"/>
            <a:ext cx="3063240" cy="3063240"/>
          </a:xfrm>
          <a:prstGeom prst="rect">
            <a:avLst/>
          </a:prstGeom>
        </p:spPr>
      </p:pic>
      <p:sp>
        <p:nvSpPr>
          <p:cNvPr id="10" name="Label 2"/>
          <p:cNvSpPr txBox="1"/>
          <p:nvPr/>
        </p:nvSpPr>
        <p:spPr>
          <a:xfrm>
            <a:off x="4562856" y="4572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BF4A"/>
                </a:solidFill>
              </a:rPr>
              <a:t>S-TYPE  |  STONY</a:t>
            </a:r>
          </a:p>
        </p:txBody>
      </p:sp>
      <p:sp>
        <p:nvSpPr>
          <p:cNvPr id="11" name="Description 2"/>
          <p:cNvSpPr txBox="1"/>
          <p:nvPr/>
        </p:nvSpPr>
        <p:spPr>
          <a:xfrm>
            <a:off x="4562856" y="4937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F4FA"/>
                </a:solidFill>
              </a:rPr>
              <a:t>Silicate rock mixed with some metal. Common in the inner belt.</a:t>
            </a:r>
          </a:p>
        </p:txBody>
      </p:sp>
      <p:sp>
        <p:nvSpPr>
          <p:cNvPr id="12" name="Card 3"/>
          <p:cNvSpPr/>
          <p:nvPr/>
        </p:nvSpPr>
        <p:spPr>
          <a:xfrm>
            <a:off x="8165592" y="1371600"/>
            <a:ext cx="3611880" cy="4617720"/>
          </a:xfrm>
          <a:prstGeom prst="roundRect">
            <a:avLst>
              <a:gd name="adj" fmla="val 5000"/>
            </a:avLst>
          </a:prstGeom>
          <a:solidFill>
            <a:srgbClr val="102235"/>
          </a:solidFill>
          <a:ln w="12700">
            <a:solidFill>
              <a:srgbClr val="4AA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-TYPE 3D render" descr="m_type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1463040"/>
            <a:ext cx="3063240" cy="3063240"/>
          </a:xfrm>
          <a:prstGeom prst="rect">
            <a:avLst/>
          </a:prstGeom>
        </p:spPr>
      </p:pic>
      <p:sp>
        <p:nvSpPr>
          <p:cNvPr id="14" name="Label 3"/>
          <p:cNvSpPr txBox="1"/>
          <p:nvPr/>
        </p:nvSpPr>
        <p:spPr>
          <a:xfrm>
            <a:off x="8394192" y="4572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A5FF"/>
                </a:solidFill>
              </a:rPr>
              <a:t>M-TYPE  |  METALLIC</a:t>
            </a:r>
          </a:p>
        </p:txBody>
      </p:sp>
      <p:sp>
        <p:nvSpPr>
          <p:cNvPr id="15" name="Description 3"/>
          <p:cNvSpPr txBox="1"/>
          <p:nvPr/>
        </p:nvSpPr>
        <p:spPr>
          <a:xfrm>
            <a:off x="8394192" y="4937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F4FA"/>
                </a:solidFill>
              </a:rPr>
              <a:t>Metal-rich, mostly iron and nickel. Rarer, and a candidate for structural metals.</a:t>
            </a:r>
          </a:p>
        </p:txBody>
      </p:sp>
      <p:sp>
        <p:nvSpPr>
          <p:cNvPr id="16" name="Note"/>
          <p:cNvSpPr txBox="1"/>
          <p:nvPr/>
        </p:nvSpPr>
        <p:spPr>
          <a:xfrm>
            <a:off x="530352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EBED2"/>
                </a:solidFill>
              </a:rPr>
              <a:t>Shapes and surface detail are illustrative. Real composition must be measured by survey.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